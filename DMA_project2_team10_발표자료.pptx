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DMA Project 2 — DB Mining · Search Engine ·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10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프로젝트 개요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세 개의 데이터마이닝 과업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폴더별 모듈 분리 · 단일 스크립트 재현성 · 명세 준수(범용 로직)</a:t>
            </a:r>
          </a:p>
          <a:p>
            <a:pPr lvl="0"/>
            <a:r>
              <a:rPr/>
              <a:t>모든 산출물 파일명은 </a:t>
            </a:r>
            <a:r>
              <a:rPr>
                <a:latin typeface="Courier"/>
              </a:rPr>
              <a:t>DMA_project2_team10_*</a:t>
            </a:r>
            <a:r>
              <a:rPr/>
              <a:t> 규칙 준수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파트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과업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평가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최종 성능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PART I (AA)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태그 연관 분석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규칙 해석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28개 규칙 (Lift≥2.0)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PART II (SE)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문서 검색 엔진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BPREF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0.3155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PART III (CL)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논문 분류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NB </a:t>
                      </a:r>
                      <a:r>
                        <a:rPr b="1"/>
                        <a:t>76.5%</a:t>
                      </a:r>
                      <a:r>
                        <a:rPr/>
                        <a:t>, SVM </a:t>
                      </a:r>
                      <a:r>
                        <a:rPr b="1"/>
                        <a:t>79.0%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I — 연관 분석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코드 구조 &amp; 분석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데이터</a:t>
            </a:r>
            <a:r>
              <a:rPr/>
              <a:t>: CrossValidated 질문-태그 117,656 레코드 (질문 42,921 · 태그 1,032)</a:t>
            </a:r>
          </a:p>
          <a:p>
            <a:pPr lvl="0"/>
            <a:r>
              <a:rPr b="1"/>
              <a:t>수평 테이블</a:t>
            </a:r>
            <a:r>
              <a:rPr/>
              <a:t>: </a:t>
            </a:r>
            <a:r>
              <a:rPr>
                <a:latin typeface="Courier"/>
              </a:rPr>
              <a:t>pd.crosstab(question, tag).astype(bool)</a:t>
            </a:r>
            <a:r>
              <a:rPr/>
              <a:t> → (42,921 × 1,032) 원-핫</a:t>
            </a:r>
          </a:p>
          <a:p>
            <a:pPr lvl="0"/>
            <a:r>
              <a:rPr b="1"/>
              <a:t>연관 규칙</a:t>
            </a:r>
            <a:r>
              <a:rPr/>
              <a:t>: </a:t>
            </a:r>
            <a:r>
              <a:rPr>
                <a:latin typeface="Courier"/>
              </a:rPr>
              <a:t>apriori(min_support=0.005)</a:t>
            </a:r>
            <a:r>
              <a:rPr/>
              <a:t> → </a:t>
            </a:r>
            <a:r>
              <a:rPr>
                <a:latin typeface="Courier"/>
              </a:rPr>
              <a:t>association_rules(lift, 2.0)</a:t>
            </a:r>
          </a:p>
          <a:p>
            <a:pPr lvl="0"/>
            <a:r>
              <a:rPr b="1"/>
              <a:t>결과</a:t>
            </a:r>
            <a:r>
              <a:rPr/>
              <a:t>: Frequent Itemset 133개 → </a:t>
            </a:r>
            <a:r>
              <a:rPr b="1"/>
              <a:t>연관 규칙 28개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Lift 임계값과 규칙 해석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양의 연관</a:t>
            </a:r>
            <a:r>
              <a:rPr/>
              <a:t>: </a:t>
            </a:r>
            <a:r>
              <a:rPr>
                <a:latin typeface="Courier"/>
              </a:rPr>
              <a:t>{arima}→{time-series}</a:t>
            </a:r>
            <a:r>
              <a:rPr/>
              <a:t> (Lift 9.49), </a:t>
            </a:r>
            <a:r>
              <a:rPr>
                <a:latin typeface="Courier"/>
              </a:rPr>
              <a:t>{classification}→{machine-learning}</a:t>
            </a:r>
            <a:r>
              <a:rPr/>
              <a:t> (5.39)</a:t>
            </a:r>
          </a:p>
          <a:p>
            <a:pPr lvl="0"/>
            <a:r>
              <a:rPr b="1"/>
              <a:t>음의 연관</a:t>
            </a:r>
            <a:r>
              <a:rPr/>
              <a:t>: </a:t>
            </a:r>
            <a:r>
              <a:rPr>
                <a:latin typeface="Courier"/>
              </a:rPr>
              <a:t>{machine-learning}→{r}</a:t>
            </a:r>
            <a:r>
              <a:rPr/>
              <a:t> (0.53) — ML은 Python, R은 정통 통계로 분리 태깅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규칙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임계값↑ → 특화 도메인 비율↑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≥1.0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범용 조합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≥2.0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핵심 규칙 (기본)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≥10.0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절대 상관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II — 검색 엔진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문제 정의 &amp; 모듈 아키텍처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학술 논문 2,772개 / 자연어 질의 80개 / 질의당 정답 15개 / 지표 </a:t>
            </a:r>
            <a:r>
              <a:rPr b="1"/>
              <a:t>BPREF</a:t>
            </a:r>
          </a:p>
          <a:p>
            <a:pPr lvl="0"/>
            <a:r>
              <a:rPr b="1"/>
              <a:t>명세 준수</a:t>
            </a:r>
            <a:r>
              <a:rPr/>
              <a:t>: 질의·문서 하드코딩 없음, </a:t>
            </a:r>
            <a:r>
              <a:rPr>
                <a:latin typeface="Courier"/>
              </a:rPr>
              <a:t>relevance.txt</a:t>
            </a:r>
            <a:r>
              <a:rPr/>
              <a:t> 미참조, 문서 통계만 활용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책임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se_analyzer.py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Porter Stemmer 형태소 분석기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make_index.py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Whoosh 역색인 빌드 (docID/title/contents)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CustomScoring.py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스코어링 공식 (</a:t>
                      </a:r>
                      <a:r>
                        <a:rPr>
                          <a:latin typeface="Courier"/>
                        </a:rPr>
                        <a:t>intappscorer</a:t>
                      </a:r>
                      <a:r>
                        <a:rPr/>
                        <a:t>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QueryResult.py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질의 처리 + 2차 재정렬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실험 방법론: 고속 평가 하베스트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인덱스·형태소 캐시 </a:t>
                </a:r>
                <a:r>
                  <a:rPr b="1"/>
                  <a:t>1회 적재</a:t>
                </a:r>
                <a:r>
                  <a:rPr/>
                  <a:t> → 설정당 평가 15초 → </a:t>
                </a:r>
                <a:r>
                  <a:rPr b="1"/>
                  <a:t>1~3초</a:t>
                </a:r>
              </a:p>
              <a:p>
                <a:pPr lvl="0"/>
                <a:r>
                  <a:rPr/>
                  <a:t>교체 가능한 스코어러로 </a:t>
                </a:r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·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·IDF 지수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스윕</a:t>
                </a:r>
              </a:p>
              <a:p>
                <a:pPr lvl="0"/>
                <a:r>
                  <a:rPr/>
                  <a:t>질의 빌더/재정렬을 분리해 </a:t>
                </a:r>
                <a:r>
                  <a:rPr b="1"/>
                  <a:t>ablation</a:t>
                </a:r>
                <a:r>
                  <a:rPr/>
                  <a:t>으로 기여도 단독 측정</a:t>
                </a:r>
              </a:p>
              <a:p>
                <a:pPr lvl="0"/>
                <a:r>
                  <a:rPr/>
                  <a:t>질의별 BPREF·recall 진단으로 저성능 질의 원인 추적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핵심 1 — Binary IDF 스코어링 (가장 효과 큼)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TF 반영 BM25형 → BPREF </a:t>
                </a:r>
                <a:r>
                  <a:rPr b="1"/>
                  <a:t>0.28로 하락</a:t>
                </a:r>
                <a:r>
                  <a:rPr/>
                  <a:t> (키워드 반복 ≠ 관련도, 장문 편향)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Binary Match로 갈수록 상승, IDF 지수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1.5</m:t>
                    </m:r>
                  </m:oMath>
                </a14:m>
                <a:r>
                  <a:rPr/>
                  <a:t> 최적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c</m:t>
                      </m:r>
                      <m:r>
                        <m:rPr>
                          <m:sty m:val="p"/>
                        </m:rPr>
                        <m:t>o</m:t>
                      </m:r>
                      <m:r>
                        <m:rPr>
                          <m:sty m:val="p"/>
                        </m:rPr>
                        <m:t>r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q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Q</m:t>
                          </m:r>
                          <m:r>
                            <m:rPr>
                              <m:sty m:val="p"/>
                            </m:rPr>
                            <m:t>∩</m:t>
                          </m:r>
                          <m:r>
                            <m:t>D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I</m:t>
                          </m:r>
                          <m:r>
                            <m:rPr>
                              <m:sty m:val="p"/>
                            </m:rPr>
                            <m:t>D</m:t>
                          </m:r>
                          <m:r>
                            <m:rPr>
                              <m:sty m:val="p"/>
                            </m:rPr>
                            <m:t>F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q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1.5</m:t>
                          </m:r>
                        </m:sup>
                      </m:sSup>
                    </m:oMath>
                  </m:oMathPara>
                </a14:m>
              </a:p>
              <a:p>
                <a:pPr lvl="0" indent="0">
                  <a:buNone/>
                </a:pPr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intappscorer(tf, idf, cf, qf, dc, fl, avgfl, param):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tf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: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0.0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idf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**</a:t>
                </a:r>
                <a:r>
                  <a:rPr>
                    <a:latin typeface="Courier"/>
                  </a:rPr>
                  <a:t> param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TF·길이 정규화 제거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핵심 2 — 질의 구성 &amp; 재정렬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질의</a:t>
                </a:r>
                <a:r>
                  <a:rPr/>
                  <a:t>: </a:t>
                </a:r>
                <a:r>
                  <a:rPr>
                    <a:latin typeface="Courier"/>
                  </a:rPr>
                  <a:t>"전체 구절"~8</a:t>
                </a:r>
                <a:r>
                  <a:rPr/>
                  <a:t> 느슨한 근접 + 길이 가중 OR (</a:t>
                </a:r>
                <a:r>
                  <a:rPr>
                    <a:latin typeface="Courier"/>
                  </a:rPr>
                  <a:t>OrGroup.factory(0.2)</a:t>
                </a:r>
                <a:r>
                  <a:rPr/>
                  <a:t>)</a:t>
                </a:r>
              </a:p>
              <a:p>
                <a:pPr lvl="0"/>
                <a:r>
                  <a:rPr b="1"/>
                  <a:t>재정렬 동기</a:t>
                </a:r>
                <a:r>
                  <a:rPr/>
                  <a:t>: 관련 문서가 </a:t>
                </a:r>
                <a:r>
                  <a:rPr i="1"/>
                  <a:t>공통어 매칭 무관 문서</a:t>
                </a:r>
                <a:r>
                  <a:rPr/>
                  <a:t> 아래로 매몰</a:t>
                </a:r>
              </a:p>
              <a:p>
                <a:pPr lvl="0"/>
                <a:r>
                  <a:rPr b="1"/>
                  <a:t>판별 신호</a:t>
                </a:r>
                <a:r>
                  <a:rPr/>
                  <a:t>: IDF 가중 커버리지가 최강 판별자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m:t>S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r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final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S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r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1st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+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v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idf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0.5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T</m:t>
                      </m:r>
                      <m:r>
                        <m:rPr>
                          <m:sty m:val="p"/>
                        </m:rPr>
                        <m:t>i</m:t>
                      </m:r>
                      <m:r>
                        <m:rPr>
                          <m:sty m:val="p"/>
                        </m:rPr>
                        <m:t>t</m:t>
                      </m:r>
                      <m:r>
                        <m:rPr>
                          <m:sty m:val="p"/>
                        </m:rPr>
                        <m:t>l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a</m:t>
                      </m:r>
                      <m:r>
                        <m:rPr>
                          <m:sty m:val="p"/>
                        </m:rPr>
                        <m:t>t</m:t>
                      </m:r>
                      <m:r>
                        <m:rPr>
                          <m:sty m:val="p"/>
                        </m:rPr>
                        <m:t>c</m:t>
                      </m:r>
                      <m:r>
                        <m:rPr>
                          <m:sty m:val="p"/>
                        </m:rPr>
                        <m:t>h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성능 비교 (Ablation)</a:t></a:r></a:p></p:txBody></p:sp><p:sp><p:nvSpPr><p:cNvPr id="4" name="Text Placeholder 3" /><p:cNvSpPr><a:spLocks noGrp="1" /></p:cNvSpPr><p:nvPr><p:ph idx="2" sz="half" type="body" /></p:nvPr></p:nvSpPr><p:spPr /><p:txBody><a:bodyPr /><a:lstStyle /><a:p><a:pPr lvl="0" /><a:r><a:rPr /><a:t>baseline 대비 </a:t></a:r><a:r><a:rPr b="1" /><a:t>+0.0658</a:t></a:r><a:r><a:rPr /><a:t>, 최대 기여 = Binary IDF (+0.0496)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701800" /><a:gridCol w="1701800" /><a:gridCol w="1701800" /></a:tblGrid><a:tr h="0"><a:tc><a:txBody><a:bodyPr /><a:lstStyle /><a:p><a:pPr lvl="0" indent="0" marL="0" algn="l"><a:buNone /></a:pPr><a:r><a:rPr /><a:t>단계</a:t></a:r></a:p></a:txBody><a:tcPr /></a:tc><a:tc><a:txBody><a:bodyPr /><a:lstStyle /><a:p><a:pPr lvl="0" indent="0" marL="0" algn="l"><a:buNone /></a:pPr><a:r><a:rPr /><a:t>구성</a:t></a:r></a:p></a:txBody><a:tcPr /></a:tc><a:tc><a:txBody><a:bodyPr /><a:lstStyle /><a:p><a:pPr lvl="0" indent="0" marL="0" algn="l"><a:buNone /></a:pPr><a:r><a:rPr /><a:t>BPREF</a:t></a:r></a:p></a:txBody><a:tcPr /></a:tc></a:tr><a:tr h="0"><a:tc><a:txBody><a:bodyPr /><a:lstStyle /><a:p><a:pPr lvl="0" indent="0" marL="0" algn="l"><a:buNone /></a:pPr><a:r><a:rPr /><a:t>Baseline</a:t></a:r></a:p></a:txBody></a:tc><a:tc><a:txBody><a:bodyPr /><a:lstStyle /><a:p><a:pPr lvl="0" indent="0" marL="0" algn="l"><a:buNone /></a:pPr><a:r><a:rPr /><a:t>BM25F + 단순 OR</a:t></a:r></a:p></a:txBody></a:tc><a:tc><a:txBody><a:bodyPr /><a:lstStyle /><a:p><a:pPr lvl="0" indent="0" marL="0" algn="l"><a:buNone /></a:pPr><a:r><a:rPr /><a:t>0.2497</a:t></a:r></a:p></a:txBody></a:tc></a:tr><a:tr h="0"><a:tc><a:txBody><a:bodyPr /><a:lstStyle /><a:p><a:pPr lvl="0" indent="0" marL="0" algn="l"><a:buNone /></a:pPr><a:r><a:rPr /><a:t>+ 스코어링</a:t></a:r></a:p></a:txBody></a:tc><a:tc><a:txBody><a:bodyPr /><a:lstStyle /><a:p><a:pPr lvl="0" indent="0" marL="0" algn="l"><a:buNone /></a:pPr><a:r><a:rPr /><a:t>Binary IDF</a:t></a:r><a14:m><m:oMath xmlns:m="http://schemas.openxmlformats.org/officeDocument/2006/math"><m:sSup><m:e><m:r><m:t>​</m:t></m:r></m:e><m:sup><m:r><m:t>1.5</m:t></m:r></m:sup></m:sSup></m:oMath></a14:m></a:p></a:txBody></a:tc><a:tc><a:txBody><a:bodyPr /><a:lstStyle /><a:p><a:pPr lvl="0" indent="0" marL="0" algn="l"><a:buNone /></a:pPr><a:r><a:rPr /><a:t>0.2993</a:t></a:r></a:p></a:txBody></a:tc></a:tr><a:tr h="0"><a:tc><a:txBody><a:bodyPr /><a:lstStyle /><a:p><a:pPr lvl="0" indent="0" marL="0" algn="l"><a:buNone /></a:pPr><a:r><a:rPr /><a:t>+ 질의 구성</a:t></a:r></a:p></a:txBody></a:tc><a:tc><a:txBody><a:bodyPr /><a:lstStyle /><a:p><a:pPr lvl="0" indent="0" marL="0" algn="l"><a:buNone /></a:pPr><a:r><a:rPr /><a:t>근접 구절 &amp; 가중 OR</a:t></a:r></a:p></a:txBody></a:tc><a:tc><a:txBody><a:bodyPr /><a:lstStyle /><a:p><a:pPr lvl="0" indent="0" marL="0" algn="l"><a:buNone /></a:pPr><a:r><a:rPr /><a:t>0.3135</a:t></a:r></a:p></a:txBody></a:tc></a:tr><a:tr h="0"><a:tc><a:txBody><a:bodyPr /><a:lstStyle /><a:p><a:pPr lvl="0" indent="0" marL="0" algn="l"><a:buNone /></a:pPr><a:r><a:rPr b="1" /><a:t>+ 재정렬</a:t></a:r></a:p></a:txBody></a:tc><a:tc><a:txBody><a:bodyPr /><a:lstStyle /><a:p><a:pPr lvl="0" indent="0" marL="0" algn="l"><a:buNone /></a:pPr><a:r><a:rPr b="1" /><a:t>IDF 커버리지 &amp; 제목</a:t></a:r></a:p></a:txBody></a:tc><a:tc><a:txBody><a:bodyPr /><a:lstStyle /><a:p><a:pPr lvl="0" indent="0" marL="0" algn="l"><a:buNone /></a:pPr><a:r><a:rPr b="1" /><a:t>0.3155</a:t></a:r></a:p></a:txBody></a:tc></a:tr></a:tbl></a:graphicData></a:graphic></p:graphicFrame></p:spTree></p:cSld>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한계와 배제 기법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어휘적 상한</a:t>
            </a:r>
            <a:r>
              <a:rPr/>
              <a:t>: 관련 문서의 67.7%만 질의어와 어휘 공유 → 1/3은 의미적 관련(어휘 매칭 불가)</a:t>
            </a:r>
          </a:p>
          <a:p>
            <a:pPr lvl="0"/>
            <a:r>
              <a:rPr b="1"/>
              <a:t>배제(정량 검증)</a:t>
            </a:r>
            <a:r>
              <a:rPr/>
              <a:t>: PRF, 강한 2-gram 근접, 두문자어 확장, 멀티필드 제목, 공격적 어간추출 — 모두 BPREF 하락</a:t>
            </a:r>
          </a:p>
          <a:p>
            <a:pPr lvl="0"/>
            <a:r>
              <a:rPr b="1"/>
              <a:t>교훈</a:t>
            </a:r>
            <a:r>
              <a:rPr/>
              <a:t>: “그럴듯한” 기법보다 </a:t>
            </a:r>
            <a:r>
              <a:rPr i="1"/>
              <a:t>단순·강건한 Binary IDF + 커버리지 재정렬</a:t>
            </a:r>
            <a:r>
              <a:rPr/>
              <a:t>이 최선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III — 문서 분류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피처 엔지니어링 &amp; 모델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4개 저널(AnnStat·Biometrika·JASA·JMLR), train 800 / test 200</a:t>
            </a:r>
          </a:p>
          <a:p>
            <a:pPr lvl="0"/>
            <a:r>
              <a:rPr b="1"/>
              <a:t>FeatureUnion</a:t>
            </a:r>
            <a:r>
              <a:rPr/>
              <a:t>: Word n-gram + Char n-gram TF-IDF 결합</a:t>
            </a:r>
          </a:p>
          <a:p>
            <a:pPr lvl="0"/>
            <a:r>
              <a:rPr b="1"/>
              <a:t>모델</a:t>
            </a:r>
            <a:r>
              <a:rPr/>
              <a:t>: </a:t>
            </a:r>
            <a:r>
              <a:rPr>
                <a:latin typeface="Courier"/>
              </a:rPr>
              <a:t>ComplementNB(alpha=0.03)</a:t>
            </a:r>
            <a:r>
              <a:rPr/>
              <a:t> / </a:t>
            </a:r>
            <a:r>
              <a:rPr>
                <a:latin typeface="Courier"/>
              </a:rPr>
              <a:t>LinearSVC(C=1.0)</a:t>
            </a:r>
          </a:p>
          <a:p>
            <a:pPr lvl="0"/>
            <a:r>
              <a:rPr b="1"/>
              <a:t>탐색 기준</a:t>
            </a:r>
            <a:r>
              <a:rPr/>
              <a:t>: test 과적합 방지 위해 </a:t>
            </a:r>
            <a:r>
              <a:rPr b="1"/>
              <a:t>5-fold CV 정확도</a:t>
            </a:r>
            <a:r>
              <a:rPr/>
              <a:t> 기준 (SVM CV 0.761 → 0.789)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최종 성능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고전 통계 저널 간 주제 중첩이 데이터 고유 한계 → 일반화 견고성에 최적화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Naive Bayes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76.5%</a:t>
                      </a:r>
                      <a:r>
                        <a:rPr/>
                        <a:t> (153/200)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ComplementNB로 AnnStat–Biometrika 혼동 17→11 완화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79.0%</a:t>
                      </a:r>
                      <a:r>
                        <a:rPr/>
                        <a:t> (158/200)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char 2~4-gram + 가중 균형, recall 0.76~0.84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결론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PART I</a:t>
            </a:r>
            <a:r>
              <a:rPr/>
              <a:t>: Apriori로 도메인 정합적인 28개 연관 규칙 도출 및 해석</a:t>
            </a:r>
          </a:p>
          <a:p>
            <a:pPr lvl="0"/>
            <a:r>
              <a:rPr b="1"/>
              <a:t>PART II</a:t>
            </a:r>
            <a:r>
              <a:rPr/>
              <a:t>: 데이터 주도 실험으로 BPREF </a:t>
            </a:r>
            <a:r>
              <a:rPr b="1"/>
              <a:t>0.3155</a:t>
            </a:r>
            <a:r>
              <a:rPr/>
              <a:t> 달성 — TF 제거 Binary IDF가 핵심</a:t>
            </a:r>
          </a:p>
          <a:p>
            <a:pPr lvl="0"/>
            <a:r>
              <a:rPr b="1"/>
              <a:t>PART III</a:t>
            </a:r>
            <a:r>
              <a:rPr/>
              <a:t>: FeatureUnion + CV 기반 튜닝으로 NB 76.5% · SVM 79.0%</a:t>
            </a:r>
          </a:p>
          <a:p>
            <a:pPr lvl="0"/>
            <a:r>
              <a:rPr/>
              <a:t>공통 성과: </a:t>
            </a:r>
            <a:r>
              <a:rPr b="1"/>
              <a:t>정량적 ablation으로 “효과 있는 기법”과 “잡음 기법”을 분리</a:t>
            </a:r>
            <a:r>
              <a:rPr/>
              <a:t> 검증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감사합니다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 Project 2 — DB Mining · Search Engine · Classification</dc:title>
  <dc:creator>Team 10</dc:creator>
  <cp:keywords/>
  <dcterms:created xsi:type="dcterms:W3CDTF">2026-06-09T08:33:53Z</dcterms:created>
  <dcterms:modified xsi:type="dcterms:W3CDTF">2026-06-09T08:33:53Z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</Properties>
</file>